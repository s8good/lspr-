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C4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0352"/>
            <a:ext cx="12191695" cy="36576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2296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LSPR AI Workbench 集成功能汇报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8636F"/>
                </a:solidFill>
                <a:latin typeface="Microsoft YaHei"/>
              </a:defRPr>
            </a:pPr>
            <a:r>
              <a:t>纳米光子学软件平台中的 AI 分析工作台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97280"/>
            <a:ext cx="6446520" cy="5349240"/>
          </a:xfrm>
          <a:prstGeom prst="round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54480"/>
            <a:ext cx="576072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  <a:latin typeface="Microsoft YaHei"/>
              </a:defRPr>
            </a:pPr>
            <a:r>
              <a:t>汇报人：__________</a:t>
            </a:r>
          </a:p>
          <a:p>
            <a:pPr>
              <a:spcAft>
                <a:spcPts val="1000"/>
              </a:spcAft>
              <a:defRPr sz="1800">
                <a:solidFill>
                  <a:srgbClr val="1E232A"/>
                </a:solidFill>
                <a:latin typeface="Microsoft YaHei"/>
              </a:defRPr>
            </a:pPr>
            <a:r>
              <a:t>日期：2026-04-06</a:t>
            </a:r>
          </a:p>
          <a:p>
            <a:pPr>
              <a:spcAft>
                <a:spcPts val="1000"/>
              </a:spcAft>
              <a:defRPr sz="1800">
                <a:solidFill>
                  <a:srgbClr val="1E232A"/>
                </a:solidFill>
                <a:latin typeface="Microsoft YaHei"/>
              </a:defRPr>
            </a:pPr>
            <a:r>
              <a:t>系统名称：NanoSense</a:t>
            </a:r>
          </a:p>
          <a:p>
            <a:pPr>
              <a:spcAft>
                <a:spcPts val="1000"/>
              </a:spcAft>
              <a:defRPr sz="1800">
                <a:solidFill>
                  <a:srgbClr val="1E232A"/>
                </a:solidFill>
                <a:latin typeface="Microsoft YaHei"/>
              </a:defRPr>
            </a:pPr>
            <a:r>
              <a:t>模块名称：LSPR AI Workbench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78040" y="1097280"/>
            <a:ext cx="4526280" cy="5349240"/>
          </a:xfrm>
          <a:prstGeom prst="roundRect">
            <a:avLst/>
          </a:prstGeom>
          <a:solidFill>
            <a:srgbClr val="E9F1FB"/>
          </a:solidFill>
          <a:ln>
            <a:solidFill>
              <a:srgbClr val="8BB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52360" y="1325880"/>
            <a:ext cx="397763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4C8D"/>
                </a:solidFill>
                <a:latin typeface="Microsoft YaHei"/>
              </a:defRPr>
            </a:pPr>
            <a:r>
              <a:t>封面配图建议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1920240"/>
            <a:ext cx="3977639" cy="4251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232A"/>
                </a:solidFill>
                <a:latin typeface="Microsoft YaHei"/>
              </a:defRPr>
            </a:pPr>
            <a:r>
              <a:t>• 放“AI 工作台主界面全图”</a:t>
            </a:r>
          </a:p>
          <a:p>
            <a:pPr>
              <a:spcAft>
                <a:spcPts val="800"/>
              </a:spcAft>
              <a:defRPr sz="1400">
                <a:solidFill>
                  <a:srgbClr val="1E232A"/>
                </a:solidFill>
                <a:latin typeface="Microsoft YaHei"/>
              </a:defRPr>
            </a:pPr>
            <a:r>
              <a:t>• 优先包含左侧控制区 + 右侧标签页</a:t>
            </a:r>
          </a:p>
          <a:p>
            <a:pPr>
              <a:spcAft>
                <a:spcPts val="800"/>
              </a:spcAft>
              <a:defRPr sz="1400">
                <a:solidFill>
                  <a:srgbClr val="1E232A"/>
                </a:solidFill>
                <a:latin typeface="Microsoft YaHei"/>
              </a:defRPr>
            </a:pPr>
            <a:r>
              <a:t>• 分辨率建议 ≥ 1920×1080</a:t>
            </a:r>
          </a:p>
          <a:p>
            <a:pPr>
              <a:spcAft>
                <a:spcPts val="800"/>
              </a:spcAft>
              <a:defRPr sz="1400">
                <a:solidFill>
                  <a:srgbClr val="1E232A"/>
                </a:solidFill>
                <a:latin typeface="Microsoft YaHei"/>
              </a:defRPr>
            </a:pPr>
            <a:r>
              <a:t>• 避免裁掉标题栏与关键按钮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8636F"/>
                </a:solidFill>
                <a:latin typeface="Microsoft YaHei"/>
              </a:defRPr>
            </a:pPr>
            <a:r>
              <a:t>LSPR AI Workbench 集成功能汇报  |  第 1 / 10 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C4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0352"/>
            <a:ext cx="12191695" cy="36576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2296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为什么要在软件中集成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97280"/>
            <a:ext cx="6446520" cy="5349240"/>
          </a:xfrm>
          <a:prstGeom prst="round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585216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  <a:latin typeface="Microsoft YaHei"/>
              </a:defRPr>
            </a:pPr>
            <a:r>
              <a:t>• 传统光谱分析高度依赖人工经验，效率和一致性受限</a:t>
            </a:r>
          </a:p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  <a:latin typeface="Microsoft YaHei"/>
              </a:defRPr>
            </a:pPr>
            <a:r>
              <a:t>• 单次预测、批量处理、历史追溯之间缺少统一入口</a:t>
            </a:r>
          </a:p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  <a:latin typeface="Microsoft YaHei"/>
              </a:defRPr>
            </a:pPr>
            <a:r>
              <a:t>• 本次集成目标是形成“导入-预测-解释-归档-回看”闭环</a:t>
            </a:r>
          </a:p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  <a:latin typeface="Microsoft YaHei"/>
              </a:defRPr>
            </a:pPr>
            <a:r>
              <a:t>• 在桌面软件内直接提供可视化、可解释、可归档的 AI 工作台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78040" y="1097280"/>
            <a:ext cx="4526280" cy="5349240"/>
          </a:xfrm>
          <a:prstGeom prst="roundRect">
            <a:avLst/>
          </a:prstGeom>
          <a:solidFill>
            <a:srgbClr val="E9F1FB"/>
          </a:solidFill>
          <a:ln>
            <a:solidFill>
              <a:srgbClr val="8BB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52360" y="1325880"/>
            <a:ext cx="397763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4C8D"/>
                </a:solidFill>
                <a:latin typeface="Microsoft YaHei"/>
              </a:defRPr>
            </a:pPr>
            <a:r>
              <a:t>配图建议：流程图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1920240"/>
            <a:ext cx="3977639" cy="4251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232A"/>
                </a:solidFill>
                <a:latin typeface="Microsoft YaHei"/>
              </a:defRPr>
            </a:pPr>
            <a:r>
              <a:t>• 光谱输入 → AI 预测 → 谱线解释 → 结果归档 → 数据库回看</a:t>
            </a:r>
          </a:p>
          <a:p>
            <a:pPr>
              <a:spcAft>
                <a:spcPts val="800"/>
              </a:spcAft>
              <a:defRPr sz="1400">
                <a:solidFill>
                  <a:srgbClr val="1E232A"/>
                </a:solidFill>
                <a:latin typeface="Microsoft YaHei"/>
              </a:defRPr>
            </a:pPr>
            <a:r>
              <a:t>• 用单向箭头，突出闭环关系</a:t>
            </a:r>
          </a:p>
          <a:p>
            <a:pPr>
              <a:spcAft>
                <a:spcPts val="800"/>
              </a:spcAft>
              <a:defRPr sz="1400">
                <a:solidFill>
                  <a:srgbClr val="1E232A"/>
                </a:solidFill>
                <a:latin typeface="Microsoft YaHei"/>
              </a:defRPr>
            </a:pPr>
            <a:r>
              <a:t>• 建议配一条“数据可追溯”说明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8636F"/>
                </a:solidFill>
                <a:latin typeface="Microsoft YaHei"/>
              </a:defRPr>
            </a:pPr>
            <a:r>
              <a:t>LSPR AI Workbench 集成功能汇报  |  第 2 / 10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C4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0352"/>
            <a:ext cx="12191695" cy="36576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2296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LSPR AI Workbench 功能总览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97280"/>
            <a:ext cx="6446520" cy="5349240"/>
          </a:xfrm>
          <a:prstGeom prst="round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585216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  <a:latin typeface="Microsoft YaHei"/>
              </a:defRPr>
            </a:pPr>
            <a:r>
              <a:t>• Analysis：单谱预测 + 谱线对比解释</a:t>
            </a:r>
          </a:p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  <a:latin typeface="Microsoft YaHei"/>
              </a:defRPr>
            </a:pPr>
            <a:r>
              <a:t>• Digital Twin：数字孪生与 AI/物理谱叠加</a:t>
            </a:r>
          </a:p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  <a:latin typeface="Microsoft YaHei"/>
              </a:defRPr>
            </a:pPr>
            <a:r>
              <a:t>• Model Comparison：多模型横向比较</a:t>
            </a:r>
          </a:p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  <a:latin typeface="Microsoft YaHei"/>
              </a:defRPr>
            </a:pPr>
            <a:r>
              <a:t>• Batch Prediction 与 AI Runs：批量处理 + 归档回看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78040" y="1097280"/>
            <a:ext cx="4526280" cy="5349240"/>
          </a:xfrm>
          <a:prstGeom prst="roundRect">
            <a:avLst/>
          </a:prstGeom>
          <a:solidFill>
            <a:srgbClr val="E9F1FB"/>
          </a:solidFill>
          <a:ln>
            <a:solidFill>
              <a:srgbClr val="8BB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52360" y="1325880"/>
            <a:ext cx="397763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4C8D"/>
                </a:solidFill>
                <a:latin typeface="Microsoft YaHei"/>
              </a:defRPr>
            </a:pPr>
            <a:r>
              <a:t>配图建议：标签页拼图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1920240"/>
            <a:ext cx="3977639" cy="4251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232A"/>
                </a:solidFill>
                <a:latin typeface="Microsoft YaHei"/>
              </a:defRPr>
            </a:pPr>
            <a:r>
              <a:t>• 拼 4 张标签页：Analysis / Twin / Comparison / Batch</a:t>
            </a:r>
          </a:p>
          <a:p>
            <a:pPr>
              <a:spcAft>
                <a:spcPts val="800"/>
              </a:spcAft>
              <a:defRPr sz="1400">
                <a:solidFill>
                  <a:srgbClr val="1E232A"/>
                </a:solidFill>
                <a:latin typeface="Microsoft YaHei"/>
              </a:defRPr>
            </a:pPr>
            <a:r>
              <a:t>• 每张图用箭头标注标签名</a:t>
            </a:r>
          </a:p>
          <a:p>
            <a:pPr>
              <a:spcAft>
                <a:spcPts val="800"/>
              </a:spcAft>
              <a:defRPr sz="1400">
                <a:solidFill>
                  <a:srgbClr val="1E232A"/>
                </a:solidFill>
                <a:latin typeface="Microsoft YaHei"/>
              </a:defRPr>
            </a:pPr>
            <a:r>
              <a:t>• 角落加一句：AI Runs 在数据库浏览器中查看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8636F"/>
                </a:solidFill>
                <a:latin typeface="Microsoft YaHei"/>
              </a:defRPr>
            </a:pPr>
            <a:r>
              <a:t>LSPR AI Workbench 集成功能汇报  |  第 3 / 10 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C4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0352"/>
            <a:ext cx="12191695" cy="36576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2296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单谱浓度预测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97280"/>
            <a:ext cx="6446520" cy="5349240"/>
          </a:xfrm>
          <a:prstGeom prst="round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585216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  <a:latin typeface="Microsoft YaHei"/>
              </a:defRPr>
            </a:pPr>
            <a:r>
              <a:t>• 支持导入单条光谱或从测量页直接送入工作台</a:t>
            </a:r>
          </a:p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  <a:latin typeface="Microsoft YaHei"/>
              </a:defRPr>
            </a:pPr>
            <a:r>
              <a:t>• 支持后端模式：Auto / In-process / Subprocess</a:t>
            </a:r>
          </a:p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  <a:latin typeface="Microsoft YaHei"/>
              </a:defRPr>
            </a:pPr>
            <a:r>
              <a:t>• 输出包含浓度、报告模式、报告文本、ULOQ 与回退状态</a:t>
            </a:r>
          </a:p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  <a:latin typeface="Microsoft YaHei"/>
              </a:defRPr>
            </a:pPr>
            <a:r>
              <a:t>• 定位为单样本快速判读入口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78040" y="1097280"/>
            <a:ext cx="4526280" cy="5349240"/>
          </a:xfrm>
          <a:prstGeom prst="roundRect">
            <a:avLst/>
          </a:prstGeom>
          <a:solidFill>
            <a:srgbClr val="E9F1FB"/>
          </a:solidFill>
          <a:ln>
            <a:solidFill>
              <a:srgbClr val="8BB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52360" y="1325880"/>
            <a:ext cx="397763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4C8D"/>
                </a:solidFill>
                <a:latin typeface="Microsoft YaHei"/>
              </a:defRPr>
            </a:pPr>
            <a:r>
              <a:t>配图建议：Run AI Prediction 区域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1920240"/>
            <a:ext cx="3977639" cy="4251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232A"/>
                </a:solidFill>
                <a:latin typeface="Microsoft YaHei"/>
              </a:defRPr>
            </a:pPr>
            <a:r>
              <a:t>• 圈出 Backend 下拉框</a:t>
            </a:r>
          </a:p>
          <a:p>
            <a:pPr>
              <a:spcAft>
                <a:spcPts val="800"/>
              </a:spcAft>
              <a:defRPr sz="1400">
                <a:solidFill>
                  <a:srgbClr val="1E232A"/>
                </a:solidFill>
                <a:latin typeface="Microsoft YaHei"/>
              </a:defRPr>
            </a:pPr>
            <a:r>
              <a:t>• 圈出 Prediction Summary 卡片</a:t>
            </a:r>
          </a:p>
          <a:p>
            <a:pPr>
              <a:spcAft>
                <a:spcPts val="800"/>
              </a:spcAft>
              <a:defRPr sz="1400">
                <a:solidFill>
                  <a:srgbClr val="1E232A"/>
                </a:solidFill>
                <a:latin typeface="Microsoft YaHei"/>
              </a:defRPr>
            </a:pPr>
            <a:r>
              <a:t>• 若有回退提示，建议一并保留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8636F"/>
                </a:solidFill>
                <a:latin typeface="Microsoft YaHei"/>
              </a:defRPr>
            </a:pPr>
            <a:r>
              <a:t>LSPR AI Workbench 集成功能汇报  |  第 4 / 10 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C4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0352"/>
            <a:ext cx="12191695" cy="36576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2296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谱线对比与可解释分析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97280"/>
            <a:ext cx="6446520" cy="5349240"/>
          </a:xfrm>
          <a:prstGeom prst="round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585216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  <a:latin typeface="Microsoft YaHei"/>
              </a:defRPr>
            </a:pPr>
            <a:r>
              <a:t>• 同屏展示输入谱、生成谱、对齐谱三条曲线</a:t>
            </a:r>
          </a:p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  <a:latin typeface="Microsoft YaHei"/>
              </a:defRPr>
            </a:pPr>
            <a:r>
              <a:t>• 支持导出对比图用于报告与复核</a:t>
            </a:r>
          </a:p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  <a:latin typeface="Microsoft YaHei"/>
              </a:defRPr>
            </a:pPr>
            <a:r>
              <a:t>• 提供峰位、缩放、偏移等解释指标</a:t>
            </a:r>
          </a:p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  <a:latin typeface="Microsoft YaHei"/>
              </a:defRPr>
            </a:pPr>
            <a:r>
              <a:t>• 实现“浓度结果 + 曲线证据”的联合呈现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78040" y="1097280"/>
            <a:ext cx="4526280" cy="5349240"/>
          </a:xfrm>
          <a:prstGeom prst="roundRect">
            <a:avLst/>
          </a:prstGeom>
          <a:solidFill>
            <a:srgbClr val="E9F1FB"/>
          </a:solidFill>
          <a:ln>
            <a:solidFill>
              <a:srgbClr val="8BB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52360" y="1325880"/>
            <a:ext cx="397763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4C8D"/>
                </a:solidFill>
                <a:latin typeface="Microsoft YaHei"/>
              </a:defRPr>
            </a:pPr>
            <a:r>
              <a:t>配图建议：Analysis 曲线区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1920240"/>
            <a:ext cx="3977639" cy="4251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232A"/>
                </a:solidFill>
                <a:latin typeface="Microsoft YaHei"/>
              </a:defRPr>
            </a:pPr>
            <a:r>
              <a:t>• 圈出三条曲线的图例</a:t>
            </a:r>
          </a:p>
          <a:p>
            <a:pPr>
              <a:spcAft>
                <a:spcPts val="800"/>
              </a:spcAft>
              <a:defRPr sz="1400">
                <a:solidFill>
                  <a:srgbClr val="1E232A"/>
                </a:solidFill>
                <a:latin typeface="Microsoft YaHei"/>
              </a:defRPr>
            </a:pPr>
            <a:r>
              <a:t>• 圈出下方指标区（Conc / Mode / Scale / Offset）</a:t>
            </a:r>
          </a:p>
          <a:p>
            <a:pPr>
              <a:spcAft>
                <a:spcPts val="800"/>
              </a:spcAft>
              <a:defRPr sz="1400">
                <a:solidFill>
                  <a:srgbClr val="1E232A"/>
                </a:solidFill>
                <a:latin typeface="Microsoft YaHei"/>
              </a:defRPr>
            </a:pPr>
            <a:r>
              <a:t>• 可补一处注释：哪条是对齐后曲线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8636F"/>
                </a:solidFill>
                <a:latin typeface="Microsoft YaHei"/>
              </a:defRPr>
            </a:pPr>
            <a:r>
              <a:t>LSPR AI Workbench 集成功能汇报  |  第 5 / 10 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C4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0352"/>
            <a:ext cx="12191695" cy="36576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2296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Digital Twin：数字孪生可视化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97280"/>
            <a:ext cx="6446520" cy="5349240"/>
          </a:xfrm>
          <a:prstGeom prst="round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585216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  <a:latin typeface="Microsoft YaHei"/>
              </a:defRPr>
            </a:pPr>
            <a:r>
              <a:t>• 浓度滑块驱动 AI/物理谱动态生成</a:t>
            </a:r>
          </a:p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  <a:latin typeface="Microsoft YaHei"/>
              </a:defRPr>
            </a:pPr>
            <a:r>
              <a:t>• 支持叠加实验谱做直观对照</a:t>
            </a:r>
          </a:p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  <a:latin typeface="Microsoft YaHei"/>
              </a:defRPr>
            </a:pPr>
            <a:r>
              <a:t>• 提供 Peak Wavelength、Delta Lambda、Peak Intensity 指标</a:t>
            </a:r>
          </a:p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  <a:latin typeface="Microsoft YaHei"/>
              </a:defRPr>
            </a:pPr>
            <a:r>
              <a:t>• 适用于教学演示与结果解释场景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78040" y="1097280"/>
            <a:ext cx="4526280" cy="5349240"/>
          </a:xfrm>
          <a:prstGeom prst="roundRect">
            <a:avLst/>
          </a:prstGeom>
          <a:solidFill>
            <a:srgbClr val="E9F1FB"/>
          </a:solidFill>
          <a:ln>
            <a:solidFill>
              <a:srgbClr val="8BB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52360" y="1325880"/>
            <a:ext cx="397763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4C8D"/>
                </a:solidFill>
                <a:latin typeface="Microsoft YaHei"/>
              </a:defRPr>
            </a:pPr>
            <a:r>
              <a:t>配图建议：Digital Twin 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1920240"/>
            <a:ext cx="3977639" cy="4251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232A"/>
                </a:solidFill>
                <a:latin typeface="Microsoft YaHei"/>
              </a:defRPr>
            </a:pPr>
            <a:r>
              <a:t>• 圈出浓度滑块与数值框</a:t>
            </a:r>
          </a:p>
          <a:p>
            <a:pPr>
              <a:spcAft>
                <a:spcPts val="800"/>
              </a:spcAft>
              <a:defRPr sz="1400">
                <a:solidFill>
                  <a:srgbClr val="1E232A"/>
                </a:solidFill>
                <a:latin typeface="Microsoft YaHei"/>
              </a:defRPr>
            </a:pPr>
            <a:r>
              <a:t>• 圈出曲线图区（Baseline / Physical / AI / Experimental）</a:t>
            </a:r>
          </a:p>
          <a:p>
            <a:pPr>
              <a:spcAft>
                <a:spcPts val="800"/>
              </a:spcAft>
              <a:defRPr sz="1400">
                <a:solidFill>
                  <a:srgbClr val="1E232A"/>
                </a:solidFill>
                <a:latin typeface="Microsoft YaHei"/>
              </a:defRPr>
            </a:pPr>
            <a:r>
              <a:t>• 圈出右侧关键指标区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8636F"/>
                </a:solidFill>
                <a:latin typeface="Microsoft YaHei"/>
              </a:defRPr>
            </a:pPr>
            <a:r>
              <a:t>LSPR AI Workbench 集成功能汇报  |  第 6 / 10 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C4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0352"/>
            <a:ext cx="12191695" cy="36576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2296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Prediction Model 与 Spectrum Generator 职责拆分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97280"/>
            <a:ext cx="6446520" cy="5349240"/>
          </a:xfrm>
          <a:prstGeom prst="round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585216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  <a:latin typeface="Microsoft YaHei"/>
              </a:defRPr>
            </a:pPr>
            <a:r>
              <a:t>• Prediction Model 负责浓度预测</a:t>
            </a:r>
          </a:p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  <a:latin typeface="Microsoft YaHei"/>
              </a:defRPr>
            </a:pPr>
            <a:r>
              <a:t>• Spectrum Generator 负责生成谱、对齐谱和 Twin 中 AI 曲线</a:t>
            </a:r>
          </a:p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  <a:latin typeface="Microsoft YaHei"/>
              </a:defRPr>
            </a:pPr>
            <a:r>
              <a:t>• 拆分后可提升系统稳定性与解释清晰度</a:t>
            </a:r>
          </a:p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  <a:latin typeface="Microsoft YaHei"/>
              </a:defRPr>
            </a:pPr>
            <a:r>
              <a:t>• 避免“浓度与曲线一定来自同一模型”的误解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78040" y="1097280"/>
            <a:ext cx="4526280" cy="5349240"/>
          </a:xfrm>
          <a:prstGeom prst="roundRect">
            <a:avLst/>
          </a:prstGeom>
          <a:solidFill>
            <a:srgbClr val="E9F1FB"/>
          </a:solidFill>
          <a:ln>
            <a:solidFill>
              <a:srgbClr val="8BB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52360" y="1325880"/>
            <a:ext cx="397763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4C8D"/>
                </a:solidFill>
                <a:latin typeface="Microsoft YaHei"/>
              </a:defRPr>
            </a:pPr>
            <a:r>
              <a:t>配图建议：双路径结构图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1920240"/>
            <a:ext cx="3977639" cy="4251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232A"/>
                </a:solidFill>
                <a:latin typeface="Microsoft YaHei"/>
              </a:defRPr>
            </a:pPr>
            <a:r>
              <a:t>• Input Spectrum → Prediction Model → Concentration</a:t>
            </a:r>
          </a:p>
          <a:p>
            <a:pPr>
              <a:spcAft>
                <a:spcPts val="800"/>
              </a:spcAft>
              <a:defRPr sz="1400">
                <a:solidFill>
                  <a:srgbClr val="1E232A"/>
                </a:solidFill>
                <a:latin typeface="Microsoft YaHei"/>
              </a:defRPr>
            </a:pPr>
            <a:r>
              <a:t>• Concentration → Spectrum Generator → AI Spectrum</a:t>
            </a:r>
          </a:p>
          <a:p>
            <a:pPr>
              <a:spcAft>
                <a:spcPts val="800"/>
              </a:spcAft>
              <a:defRPr sz="1400">
                <a:solidFill>
                  <a:srgbClr val="1E232A"/>
                </a:solidFill>
                <a:latin typeface="Microsoft YaHei"/>
              </a:defRPr>
            </a:pPr>
            <a:r>
              <a:t>• 或用界面截图圈出两个模型选择框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8636F"/>
                </a:solidFill>
                <a:latin typeface="Microsoft YaHei"/>
              </a:defRPr>
            </a:pPr>
            <a:r>
              <a:t>LSPR AI Workbench 集成功能汇报  |  第 7 / 10 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C4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0352"/>
            <a:ext cx="12191695" cy="36576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2296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模型比较与批量处理能力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97280"/>
            <a:ext cx="6446520" cy="5349240"/>
          </a:xfrm>
          <a:prstGeom prst="round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585216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  <a:latin typeface="Microsoft YaHei"/>
              </a:defRPr>
            </a:pPr>
            <a:r>
              <a:t>• 支持多模型结果横向比较与差异观察</a:t>
            </a:r>
          </a:p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  <a:latin typeface="Microsoft YaHei"/>
              </a:defRPr>
            </a:pPr>
            <a:r>
              <a:t>• 支持文件夹与多列表文件批量导入</a:t>
            </a:r>
          </a:p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  <a:latin typeface="Microsoft YaHei"/>
              </a:defRPr>
            </a:pPr>
            <a:r>
              <a:t>• 批量预测结果支持导出 CSV</a:t>
            </a:r>
          </a:p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  <a:latin typeface="Microsoft YaHei"/>
              </a:defRPr>
            </a:pPr>
            <a:r>
              <a:t>• 支持从批量结果回到单条详细分析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78040" y="1097280"/>
            <a:ext cx="4526280" cy="5349240"/>
          </a:xfrm>
          <a:prstGeom prst="roundRect">
            <a:avLst/>
          </a:prstGeom>
          <a:solidFill>
            <a:srgbClr val="E9F1FB"/>
          </a:solidFill>
          <a:ln>
            <a:solidFill>
              <a:srgbClr val="8BB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52360" y="1325880"/>
            <a:ext cx="397763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4C8D"/>
                </a:solidFill>
                <a:latin typeface="Microsoft YaHei"/>
              </a:defRPr>
            </a:pPr>
            <a:r>
              <a:t>配图建议：双栏截图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1920240"/>
            <a:ext cx="3977639" cy="4251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232A"/>
                </a:solidFill>
                <a:latin typeface="Microsoft YaHei"/>
              </a:defRPr>
            </a:pPr>
            <a:r>
              <a:t>• 左侧放 Model Comparison 页面</a:t>
            </a:r>
          </a:p>
          <a:p>
            <a:pPr>
              <a:spcAft>
                <a:spcPts val="800"/>
              </a:spcAft>
              <a:defRPr sz="1400">
                <a:solidFill>
                  <a:srgbClr val="1E232A"/>
                </a:solidFill>
                <a:latin typeface="Microsoft YaHei"/>
              </a:defRPr>
            </a:pPr>
            <a:r>
              <a:t>• 右侧放 Batch Prediction 页面</a:t>
            </a:r>
          </a:p>
          <a:p>
            <a:pPr>
              <a:spcAft>
                <a:spcPts val="800"/>
              </a:spcAft>
              <a:defRPr sz="1400">
                <a:solidFill>
                  <a:srgbClr val="1E232A"/>
                </a:solidFill>
                <a:latin typeface="Microsoft YaHei"/>
              </a:defRPr>
            </a:pPr>
            <a:r>
              <a:t>• 建议在批量表格中高亮“可双击回看”行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8636F"/>
                </a:solidFill>
                <a:latin typeface="Microsoft YaHei"/>
              </a:defRPr>
            </a:pPr>
            <a:r>
              <a:t>LSPR AI Workbench 集成功能汇报  |  第 8 / 10 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C4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0352"/>
            <a:ext cx="12191695" cy="36576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2296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AI 结果归档与数据库回看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97280"/>
            <a:ext cx="6446520" cy="5349240"/>
          </a:xfrm>
          <a:prstGeom prst="round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585216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  <a:latin typeface="Microsoft YaHei"/>
              </a:defRPr>
            </a:pPr>
            <a:r>
              <a:t>• AI 结果写入 analysis_runs / analysis_metrics 结构化存储</a:t>
            </a:r>
          </a:p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  <a:latin typeface="Microsoft YaHei"/>
              </a:defRPr>
            </a:pPr>
            <a:r>
              <a:t>• 归档上下文含预测结果、谱线对比与数字孪生信息</a:t>
            </a:r>
          </a:p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  <a:latin typeface="Microsoft YaHei"/>
              </a:defRPr>
            </a:pPr>
            <a:r>
              <a:t>• 数据库浏览器新增 AI Runs 标签页</a:t>
            </a:r>
          </a:p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  <a:latin typeface="Microsoft YaHei"/>
              </a:defRPr>
            </a:pPr>
            <a:r>
              <a:t>• 支持从历史记录重新打开工作台进行复核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78040" y="1097280"/>
            <a:ext cx="4526280" cy="5349240"/>
          </a:xfrm>
          <a:prstGeom prst="roundRect">
            <a:avLst/>
          </a:prstGeom>
          <a:solidFill>
            <a:srgbClr val="E9F1FB"/>
          </a:solidFill>
          <a:ln>
            <a:solidFill>
              <a:srgbClr val="8BB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52360" y="1325880"/>
            <a:ext cx="397763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4C8D"/>
                </a:solidFill>
                <a:latin typeface="Microsoft YaHei"/>
              </a:defRPr>
            </a:pPr>
            <a:r>
              <a:t>配图建议：数据库回看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1920240"/>
            <a:ext cx="3977639" cy="4251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232A"/>
                </a:solidFill>
                <a:latin typeface="Microsoft YaHei"/>
              </a:defRPr>
            </a:pPr>
            <a:r>
              <a:t>• 数据库浏览器中圈出 AI Runs 标签</a:t>
            </a:r>
          </a:p>
          <a:p>
            <a:pPr>
              <a:spcAft>
                <a:spcPts val="800"/>
              </a:spcAft>
              <a:defRPr sz="1400">
                <a:solidFill>
                  <a:srgbClr val="1E232A"/>
                </a:solidFill>
                <a:latin typeface="Microsoft YaHei"/>
              </a:defRPr>
            </a:pPr>
            <a:r>
              <a:t>• 展示一条历史 run 的模型与浓度字段</a:t>
            </a:r>
          </a:p>
          <a:p>
            <a:pPr>
              <a:spcAft>
                <a:spcPts val="800"/>
              </a:spcAft>
              <a:defRPr sz="1400">
                <a:solidFill>
                  <a:srgbClr val="1E232A"/>
                </a:solidFill>
                <a:latin typeface="Microsoft YaHei"/>
              </a:defRPr>
            </a:pPr>
            <a:r>
              <a:t>• 附小流程：预测 → 归档 → 回看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8636F"/>
                </a:solidFill>
                <a:latin typeface="Microsoft YaHei"/>
              </a:defRPr>
            </a:pPr>
            <a:r>
              <a:t>LSPR AI Workbench 集成功能汇报  |  第 9 / 10 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C4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0352"/>
            <a:ext cx="12191695" cy="36576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2296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总结与后续优化方向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97280"/>
            <a:ext cx="6446520" cy="5349240"/>
          </a:xfrm>
          <a:prstGeom prst="round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585216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  <a:latin typeface="Microsoft YaHei"/>
              </a:defRPr>
            </a:pPr>
            <a:r>
              <a:t>• 已完成 AI 工作台集成与核心能力落地</a:t>
            </a:r>
          </a:p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  <a:latin typeface="Microsoft YaHei"/>
              </a:defRPr>
            </a:pPr>
            <a:r>
              <a:t>• 系统已具备预测、对比、Twin、批量、归档、回看能力</a:t>
            </a:r>
          </a:p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  <a:latin typeface="Microsoft YaHei"/>
              </a:defRPr>
            </a:pPr>
            <a:r>
              <a:t>• 本次集成提升了分析效率、解释性与可追溯性</a:t>
            </a:r>
          </a:p>
          <a:p>
            <a:pPr>
              <a:spcAft>
                <a:spcPts val="1000"/>
              </a:spcAft>
              <a:defRPr sz="2000">
                <a:solidFill>
                  <a:srgbClr val="1E232A"/>
                </a:solidFill>
                <a:latin typeface="Microsoft YaHei"/>
              </a:defRPr>
            </a:pPr>
            <a:r>
              <a:t>• 后续优化方向：模型精度、交互体验、自动化流程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78040" y="1097280"/>
            <a:ext cx="4526280" cy="5349240"/>
          </a:xfrm>
          <a:prstGeom prst="roundRect">
            <a:avLst/>
          </a:prstGeom>
          <a:solidFill>
            <a:srgbClr val="E9F1FB"/>
          </a:solidFill>
          <a:ln>
            <a:solidFill>
              <a:srgbClr val="8BB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52360" y="1325880"/>
            <a:ext cx="397763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4C8D"/>
                </a:solidFill>
                <a:latin typeface="Microsoft YaHei"/>
              </a:defRPr>
            </a:pPr>
            <a:r>
              <a:t>配图建议：总览收束图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1920240"/>
            <a:ext cx="3977639" cy="4251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232A"/>
                </a:solidFill>
                <a:latin typeface="Microsoft YaHei"/>
              </a:defRPr>
            </a:pPr>
            <a:r>
              <a:t>• 放 2-3 张代表页面缩略图（Analysis / Twin / AI Runs）</a:t>
            </a:r>
          </a:p>
          <a:p>
            <a:pPr>
              <a:spcAft>
                <a:spcPts val="800"/>
              </a:spcAft>
              <a:defRPr sz="1400">
                <a:solidFill>
                  <a:srgbClr val="1E232A"/>
                </a:solidFill>
                <a:latin typeface="Microsoft YaHei"/>
              </a:defRPr>
            </a:pPr>
            <a:r>
              <a:t>• 中间加一句收束语：可解释智能分析工作台</a:t>
            </a:r>
          </a:p>
          <a:p>
            <a:pPr>
              <a:spcAft>
                <a:spcPts val="800"/>
              </a:spcAft>
              <a:defRPr sz="1400">
                <a:solidFill>
                  <a:srgbClr val="1E232A"/>
                </a:solidFill>
                <a:latin typeface="Microsoft YaHei"/>
              </a:defRPr>
            </a:pPr>
            <a:r>
              <a:t>• 最终页尽量留白，避免信息过满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8636F"/>
                </a:solidFill>
                <a:latin typeface="Microsoft YaHei"/>
              </a:defRPr>
            </a:pPr>
            <a:r>
              <a:t>LSPR AI Workbench 集成功能汇报  |  第 10 / 10 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